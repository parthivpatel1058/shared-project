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Speaker 1 begins the wheat-price hook here — do not read the mindmap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Wheat figures verified 8 Aug 2026 against data.gov.in. Refresh them the morning you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01 · Home — A farmer opening the app in a field has seconds and one hand. Everything important is reachable without scrolling.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02 · Crop AI — Other apps stop at the diagnosis. BhoomiX asks a week later whether it worked — that answer is the dataset nobody else 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03 · Mandi Prices — This is the page that turns the ₹826 gap into a decision the farmer can act on before loading the cart.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04 · Damage Report — Under PMFBY a localised loss must be reported within 72 hours. Reported late, a claim can be rejected outright.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05 · Crop Advisory — A helpline is open certain hours and speaks certain languages. This is open at 5am in the language the farmer thinks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06 · Schemes — Most schemes fail on awareness, not eligibility. Beside the mandi price is where a farmer will actually see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07 · AgriNova Mart — The same trip and the same delivery partner that brings seed can bring the household order. One relationship, not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08 · Agri Market — A diagnosis that ends in "buy neem oil" is only useful if neem oil is two taps away. This is that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09 · Organic Farming — Every disease diagnosis offers an organic option beside the chemical one, and links straight to this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10 · Vegetable Farming — Vegetables are where a smallholder can change income in one season — short cycles and local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11 · Robotic Farming — Small farmers are usually told about this technology last. Explaining it plainly costs nothing and closes an information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12 · Shops &amp; Orders — Not everything should be delivered. Sometimes the right answer is the shop four kilometres away that has it in stock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13 · Access &amp; Trust — A secure backend, an audited database and tracked email delivery sit behind all of this — invisible, and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this slide during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farmer needs, in one app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1980590"/>
            <a:ext cx="640080" cy="1741018"/>
          </a:xfrm>
          <a:prstGeom prst="line">
            <a:avLst/>
          </a:prstGeom>
          <a:noFill/>
          <a:ln w="22225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2851099"/>
            <a:ext cx="640080" cy="870509"/>
          </a:xfrm>
          <a:prstGeom prst="line">
            <a:avLst/>
          </a:prstGeom>
          <a:noFill/>
          <a:ln w="22225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0"/>
          </a:xfrm>
          <a:prstGeom prst="line">
            <a:avLst/>
          </a:prstGeom>
          <a:noFill/>
          <a:ln w="22225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870509"/>
          </a:xfrm>
          <a:prstGeom prst="line">
            <a:avLst/>
          </a:prstGeom>
          <a:noFill/>
          <a:ln w="22225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0360" y="3721608"/>
            <a:ext cx="640080" cy="1741018"/>
          </a:xfrm>
          <a:prstGeom prst="line">
            <a:avLst/>
          </a:prstGeom>
          <a:noFill/>
          <a:ln w="22225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BhoomiX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20440" y="1664208"/>
            <a:ext cx="3291840" cy="632765"/>
          </a:xfrm>
          <a:prstGeom prst="roundRect">
            <a:avLst>
              <a:gd name="adj" fmla="val 14451"/>
            </a:avLst>
          </a:prstGeom>
          <a:solidFill>
            <a:srgbClr val="2A5A2B"/>
          </a:solidFill>
          <a:ln w="12700">
            <a:solidFill>
              <a:srgbClr val="2A5A2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1608" y="1898294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1664208"/>
            <a:ext cx="2606040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crop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20440" y="2534717"/>
            <a:ext cx="3291840" cy="632765"/>
          </a:xfrm>
          <a:prstGeom prst="roundRect">
            <a:avLst>
              <a:gd name="adj" fmla="val 14451"/>
            </a:avLst>
          </a:prstGeom>
          <a:solidFill>
            <a:srgbClr val="2A5A2B"/>
          </a:solidFill>
          <a:ln w="12700">
            <a:solidFill>
              <a:srgbClr val="2A5A2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2768803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534717"/>
            <a:ext cx="2606040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at the right price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520440" y="3405226"/>
            <a:ext cx="3291840" cy="632765"/>
          </a:xfrm>
          <a:prstGeom prst="roundRect">
            <a:avLst>
              <a:gd name="adj" fmla="val 14451"/>
            </a:avLst>
          </a:prstGeom>
          <a:solidFill>
            <a:srgbClr val="2A5A2B"/>
          </a:solidFill>
          <a:ln w="12700">
            <a:solidFill>
              <a:srgbClr val="2A5A2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21608" y="3639312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3405226"/>
            <a:ext cx="2606040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insurance in time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520440" y="4275734"/>
            <a:ext cx="3291840" cy="632765"/>
          </a:xfrm>
          <a:prstGeom prst="roundRect">
            <a:avLst>
              <a:gd name="adj" fmla="val 14451"/>
            </a:avLst>
          </a:prstGeom>
          <a:solidFill>
            <a:srgbClr val="2A5A2B"/>
          </a:solidFill>
          <a:ln w="12700">
            <a:solidFill>
              <a:srgbClr val="2A5A2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21608" y="4509821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275734"/>
            <a:ext cx="2606040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inputs and essentials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520440" y="5146243"/>
            <a:ext cx="3291840" cy="632765"/>
          </a:xfrm>
          <a:prstGeom prst="roundRect">
            <a:avLst>
              <a:gd name="adj" fmla="val 14451"/>
            </a:avLst>
          </a:prstGeom>
          <a:solidFill>
            <a:srgbClr val="2A5A2B"/>
          </a:solidFill>
          <a:ln w="12700">
            <a:solidFill>
              <a:srgbClr val="2A5A2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21608" y="5380330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0" y="5146243"/>
            <a:ext cx="2606040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and ask</a:t>
            </a:r>
            <a:endParaRPr lang="en-US" sz="12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BhoomiX home screen — live in the browser today.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0" y="51389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bhoomix.vercel.app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7315200" y="55595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4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NAMES]  ·  Indore  ·  23 Indian languages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a farmer loses money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615184"/>
            <a:ext cx="640080" cy="1106424"/>
          </a:xfrm>
          <a:prstGeom prst="line">
            <a:avLst/>
          </a:prstGeom>
          <a:noFill/>
          <a:ln w="22225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0360" y="3721608"/>
            <a:ext cx="640080" cy="0"/>
          </a:xfrm>
          <a:prstGeom prst="line">
            <a:avLst/>
          </a:prstGeom>
          <a:noFill/>
          <a:ln w="22225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1106424"/>
          </a:xfrm>
          <a:prstGeom prst="line">
            <a:avLst/>
          </a:prstGeom>
          <a:noFill/>
          <a:ln w="22225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lost, avoidably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20440" y="2180844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2A5A2B"/>
          </a:solidFill>
          <a:ln w="12700">
            <a:solidFill>
              <a:srgbClr val="2A5A2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21608" y="253288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22997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at the wrong mandi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25923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differ by hundreds of rupees on the same day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0440" y="3287268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2A5A2B"/>
          </a:solidFill>
          <a:ln w="12700">
            <a:solidFill>
              <a:srgbClr val="2A5A2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21608" y="3639312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4061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Misreads a disease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36987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it looks serious, the field is gone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20440" y="4393692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2A5A2B"/>
          </a:solidFill>
          <a:ln w="12700">
            <a:solidFill>
              <a:srgbClr val="2A5A2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21608" y="4745736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45125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the 72-hour window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48051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 loss report can be rejected outright</a:t>
            </a:r>
            <a:endParaRPr lang="en-US" sz="1050" dirty="0"/>
          </a:p>
        </p:txBody>
      </p:sp>
      <p:pic>
        <p:nvPicPr>
          <p:cNvPr id="21" name="Image 0" descr="C:\Users\din10\AppData\Local\Temp\claude\C--Users-din10-Downloads-bhoomix-main\31e37c96-97f7-4f63-9a8a-5cdb4628f52e\scratchpad\pages-web\mand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2" name="Text 19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live market rates for Madhya Pradesh, 10 Aug 2026.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C2643C"/>
          </a:solidFill>
          <a:ln w="12700">
            <a:solidFill>
              <a:srgbClr val="C264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GAP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0" y="5376672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Wheat: ₹2,000/quintal in Raisen, ₹2,826 in Ratlam. On ten quintals that is ₹8,000 a farmer never sees.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01 · HOME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screen, every decision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089404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177540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dashboard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007108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and location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075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conditions for the farmer’s district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752344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95244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everything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163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Crops, products and advisory from one bar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4183380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959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tool, one tap away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251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reaches all fourteen sections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4928616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5271516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5047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5340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Farmer, delivery partner and admin see different homes</a:t>
            </a:r>
            <a:endParaRPr lang="en-US" sz="10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signed-in home screen.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53766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opening the app in a field has seconds and one hand. Everything important is reachable without scrolling.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 · CROP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Intelligence Center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089404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177540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AI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007108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075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crop and its growth stage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752344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95244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163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disease, severity and treatment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4183380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959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Buyer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251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plants from nearby partner nurseries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4928616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5271516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5047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follow-up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5340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whether the treatment actually worked</a:t>
            </a:r>
            <a:endParaRPr lang="en-US" sz="10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crop-a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 behind one page.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53766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apps stop at the diagnosis. BhoomiX asks a week later whether it worked — that answer is the dataset nobody else has.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 · MANDI PRICES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the price before you sell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089404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177540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Mandi Prices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007108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open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075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data.gov.in, refreshed daily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752344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95244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regulated markets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163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200+ commodities nationwide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4183380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959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state and crop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251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Wheat, soyabean, onion, potato and more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4928616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5271516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5047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price picture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5340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rate, min–max range and arrival date</a:t>
            </a:r>
            <a:endParaRPr lang="en-US" sz="10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mand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rates, Madhya Pradesh, 10 Aug 2026.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CLOSES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53766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page that turns the ₹826 gap into a decision the farmer can act on before loading the cart.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 · DAMAGE REPORT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before the window shuts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089404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177540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Damage Report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007108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and timestamp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075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 at capture, not at export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752344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95244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rainfall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163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for those exact coordinates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4183380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959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countdown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251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from the moment the loss is logged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4928616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5271516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5047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evidence pack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5340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formatted for the insurer</a:t>
            </a:r>
            <a:endParaRPr lang="en-US" sz="10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da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captured automatically: 22.7196, 75.8577.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SCHEME RULE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53766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PMFBY a localised loss must be reported within 72 hours. Reported late, a claim can be rejected outright.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 · CROP ADVISORY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in your own words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089404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177540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 AI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007108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075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forms, no jargon, no menus to learn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752344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95244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Crops, fertiliser and pests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163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answers, two or three sentences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4183380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959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the farmer’s language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251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English answer with a translation bolted 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4928616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5271516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5047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5340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doses always defer to the product label</a:t>
            </a:r>
            <a:endParaRPr lang="en-US" sz="10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adviso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advisory assistant inside the app.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HELPLINE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53766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helpline is open certain hours and speaks certain languages. This is open at 5am in the language the farmer thinks 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 · SCHEMES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schemes a farmer can use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089404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177540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 Schemes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007108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and state schemes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075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one searchable place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752344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95244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at a glance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163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qualifies, before reading the fine print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4183380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959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needed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251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up front so nothing is missed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4928616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5271516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5047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apply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5340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route to the official portal</a:t>
            </a:r>
            <a:endParaRPr lang="en-US" sz="10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schem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listed with eligibility and benefits.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BARRIER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53766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schemes fail on awareness, not eligibility. Beside the mandi price is where a farmer will actually see them.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07 · AGRINOVA MART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essentials, delivered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089404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177540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AgriNova Mart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007108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 and household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075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Staples, dairy, snacks, beverages and bakery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752344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95244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163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categories, searchable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4183380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959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on every item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251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or volume shown beside the price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4928616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5271516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5047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minute delivery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5340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 by local delivery partners</a:t>
            </a:r>
            <a:endParaRPr lang="en-US" sz="10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agrinova-m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AgriNova Mart, with per-item quantity and price.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BELONGS HERE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53766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trip and the same delivery partner that brings seed can bring the household order. One relationship, not two.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08 · AGRI MARKET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for the field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089404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177540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 Market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007108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and fertiliser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075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varieties and soil inputs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752344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95244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equipment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163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Sprayers, weeders and hand tools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4183380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959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Partner-supplied stock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251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by nearby registered partners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4928616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5271516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5047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cart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5340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together with mart items</a:t>
            </a:r>
            <a:endParaRPr lang="en-US" sz="10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agri-mark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inputs listed with price and quantity.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53766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diagnosis that ends in "buy neem oil" is only useful if neem oil is two taps away. This is that page.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09 · ORGANIC FARMING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organic route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089404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177540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 Store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007108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cake and neem oil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075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pests and fungal disease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752344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95244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Trichoderma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163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soil-borne disease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4183380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959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Panchagavya and compost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251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tonics and soil health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4928616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5271516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5047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first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5340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Rotation, spacing and drainage guidance</a:t>
            </a:r>
            <a:endParaRPr lang="en-US" sz="10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organ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organic input store.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LINKED, NOT SEPARATE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53766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disease diagnosis offers an organic option beside the chemical one, and links straight to this store.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· VEGETABLE FARMING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Vegetable growing guidance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089404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177540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Vegetable Guide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007108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Season-wise crops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075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sow, and when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752344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95244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Sowing to harvest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163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for each vegetable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4183380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959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Pests to expect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251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the specific crop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4928616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5271516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5047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to inputs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5340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guide links to what it needs</a:t>
            </a:r>
            <a:endParaRPr lang="en-US" sz="10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vegetab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Crop-by-crop vegetable guidance.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53766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 are where a smallholder can change income in one season — short cycles and local demand.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· ROBOTIC FARMING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farm technology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089404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177540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 Tech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007108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Machinery and automation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075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and what it does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752344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95244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for a small farm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163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 suits two acres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4183380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959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benefit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251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in seasons, not brochures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4928616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5271516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5047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Awareness, not a sales pitch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5340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sold from this page</a:t>
            </a:r>
            <a:endParaRPr lang="en-US" sz="10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robot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technology explained in plain language.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INCLUDE IT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53766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farmers are usually told about this technology last. Explaining it plainly costs nothing and closes an information gap.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· SHOPS &amp; ORDERS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it nearby, track it after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089404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177540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Shops &amp; Orders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007108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shops on a 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075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stores and input dealers close by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752344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95244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and directions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163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wasted trip is avoidable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4183380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959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and status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251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in one list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4928616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5271516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5047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assigned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5340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from accept to delivered</a:t>
            </a:r>
            <a:endParaRPr lang="en-US" sz="10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shop-locat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locator, centred on the farmer’s district.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PLUS OFFLINE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53766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should be delivered. Sometimes the right answer is the shop four kilometres away that has it in stock today.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· ACCESS &amp; TRUST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every farmer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flipV="1">
            <a:off x="2880360" y="2089404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177540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3721608"/>
            <a:ext cx="640080" cy="544068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721608"/>
            <a:ext cx="640080" cy="1632204"/>
          </a:xfrm>
          <a:prstGeom prst="line">
            <a:avLst/>
          </a:prstGeom>
          <a:noFill/>
          <a:ln w="22225">
            <a:solidFill>
              <a:srgbClr val="9AAE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195828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95828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&amp; Trust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007108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Indian languages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075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interface switches, not a subtitle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752344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95244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163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Sign-in, password recovery and email delivery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4183380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959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data protection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251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is checked against its owner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4928616"/>
            <a:ext cx="329184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DE0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5271516"/>
            <a:ext cx="164592" cy="164592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5047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for buyers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5340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see contact details only after accepting</a:t>
            </a:r>
            <a:endParaRPr lang="en-US" sz="1050" dirty="0"/>
          </a:p>
        </p:txBody>
      </p:sp>
      <p:pic>
        <p:nvPicPr>
          <p:cNvPr id="26" name="Image 0" descr="C:\Users\din10\AppData\Local\Temp\claude\C--Users-din10-Downloads-bhoomix-main\31e37c96-97f7-4f63-9a8a-5cdb4628f52e\scratchpad\pages-web\setting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480560" cy="2798064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7086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including the language switcher.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4956048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 WORK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53766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backend, an audited database and tracked email delivery sit behind all of this — invisible, and necessary.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48840"/>
            <a:ext cx="1216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farmer deserves the right price.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251960" y="3977640"/>
            <a:ext cx="3657600" cy="658368"/>
          </a:xfrm>
          <a:prstGeom prst="roundRect">
            <a:avLst>
              <a:gd name="adj" fmla="val 16667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51960" y="39776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bhoomix.vercel.app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BhoomiX  ·  [TEAM NAMES]  ·  Indore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BhoomiX — App Walkthrough</dc:title>
  <dc:subject>PptxGenJS Presentation</dc:subject>
  <dc:creator>BhoomiX</dc:creator>
  <cp:lastModifiedBy>BhoomiX</cp:lastModifiedBy>
  <cp:revision>1</cp:revision>
  <dcterms:created xsi:type="dcterms:W3CDTF">2026-08-10T06:42:25Z</dcterms:created>
  <dcterms:modified xsi:type="dcterms:W3CDTF">2026-08-10T06:42:25Z</dcterms:modified>
</cp:coreProperties>
</file>